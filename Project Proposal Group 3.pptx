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9" r:id="rId1"/>
  </p:sldMasterIdLst>
  <p:sldIdLst>
    <p:sldId id="256" r:id="rId2"/>
    <p:sldId id="257"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FC6307-E7BB-9A4F-9DBC-884FE3E2B99E}" v="31" dt="2026-03-02T17:25:49.9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260"/>
    <p:restoredTop sz="94665"/>
  </p:normalViewPr>
  <p:slideViewPr>
    <p:cSldViewPr snapToGrid="0">
      <p:cViewPr varScale="1">
        <p:scale>
          <a:sx n="58" d="100"/>
          <a:sy n="58" d="100"/>
        </p:scale>
        <p:origin x="224" y="1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3/2/26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70255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3/2/26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06811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3/2/26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4941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3/2/26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58879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3/2/26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88069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3/2/26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6676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3/2/26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52342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3/2/26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12983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3/2/26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1660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3/2/26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370349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3/2/26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1783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3/2/26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151315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8" r:id="rId6"/>
    <p:sldLayoutId id="2147483693" r:id="rId7"/>
    <p:sldLayoutId id="2147483694" r:id="rId8"/>
    <p:sldLayoutId id="2147483695" r:id="rId9"/>
    <p:sldLayoutId id="2147483697" r:id="rId10"/>
    <p:sldLayoutId id="2147483696"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data.worldbank.org/indicator/SP.DYN.LE00.IN"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1CABED13-B31E-021E-592F-5DD3392F4260}"/>
              </a:ext>
            </a:extLst>
          </p:cNvPr>
          <p:cNvSpPr>
            <a:spLocks noGrp="1"/>
          </p:cNvSpPr>
          <p:nvPr>
            <p:ph type="ctrTitle"/>
          </p:nvPr>
        </p:nvSpPr>
        <p:spPr>
          <a:xfrm>
            <a:off x="514117" y="952500"/>
            <a:ext cx="4124557" cy="3524250"/>
          </a:xfrm>
        </p:spPr>
        <p:txBody>
          <a:bodyPr>
            <a:normAutofit fontScale="90000"/>
          </a:bodyPr>
          <a:lstStyle/>
          <a:p>
            <a:r>
              <a:rPr lang="en-US" sz="5800"/>
              <a:t>Project Proposal</a:t>
            </a:r>
            <a:br>
              <a:rPr lang="en-US" sz="5800"/>
            </a:br>
            <a:br>
              <a:rPr lang="en-US" sz="5800"/>
            </a:br>
            <a:r>
              <a:rPr lang="en-US" sz="5800"/>
              <a:t>Group 3</a:t>
            </a:r>
          </a:p>
        </p:txBody>
      </p:sp>
      <p:sp>
        <p:nvSpPr>
          <p:cNvPr id="3" name="Subtitle 2">
            <a:extLst>
              <a:ext uri="{FF2B5EF4-FFF2-40B4-BE49-F238E27FC236}">
                <a16:creationId xmlns:a16="http://schemas.microsoft.com/office/drawing/2014/main" id="{F909591B-D353-F5A8-975A-5706E14488F3}"/>
              </a:ext>
            </a:extLst>
          </p:cNvPr>
          <p:cNvSpPr>
            <a:spLocks noGrp="1"/>
          </p:cNvSpPr>
          <p:nvPr>
            <p:ph type="subTitle" idx="1"/>
          </p:nvPr>
        </p:nvSpPr>
        <p:spPr>
          <a:xfrm>
            <a:off x="514118" y="5374291"/>
            <a:ext cx="4057882" cy="972532"/>
          </a:xfrm>
        </p:spPr>
        <p:txBody>
          <a:bodyPr anchor="t">
            <a:normAutofit fontScale="92500"/>
          </a:bodyPr>
          <a:lstStyle/>
          <a:p>
            <a:r>
              <a:rPr lang="en-US"/>
              <a:t>By Ryan McCormack, Ellyn hernandez, Ronald Lynch</a:t>
            </a:r>
            <a:endParaRPr lang="en-US" err="1"/>
          </a:p>
        </p:txBody>
      </p:sp>
      <p:cxnSp>
        <p:nvCxnSpPr>
          <p:cNvPr id="11" name="Straight Connector 10">
            <a:extLst>
              <a:ext uri="{FF2B5EF4-FFF2-40B4-BE49-F238E27FC236}">
                <a16:creationId xmlns:a16="http://schemas.microsoft.com/office/drawing/2014/main" id="{A2D508B3-A66C-833E-D929-8DC21163567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2088" y="4882722"/>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F596B46B-7812-3152-DF81-DEE3FDCF0913}"/>
              </a:ext>
            </a:extLst>
          </p:cNvPr>
          <p:cNvPicPr>
            <a:picLocks noChangeAspect="1"/>
          </p:cNvPicPr>
          <p:nvPr/>
        </p:nvPicPr>
        <p:blipFill>
          <a:blip r:embed="rId2"/>
          <a:srcRect l="15691" r="16856" b="-1"/>
          <a:stretch>
            <a:fillRect/>
          </a:stretch>
        </p:blipFill>
        <p:spPr>
          <a:xfrm>
            <a:off x="5261956" y="10"/>
            <a:ext cx="6930043" cy="6857990"/>
          </a:xfrm>
          <a:prstGeom prst="rect">
            <a:avLst/>
          </a:prstGeom>
        </p:spPr>
      </p:pic>
    </p:spTree>
    <p:extLst>
      <p:ext uri="{BB962C8B-B14F-4D97-AF65-F5344CB8AC3E}">
        <p14:creationId xmlns:p14="http://schemas.microsoft.com/office/powerpoint/2010/main" val="1382182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5BBAA-4BEC-6B40-A31F-BEF62FF87C8C}"/>
              </a:ext>
            </a:extLst>
          </p:cNvPr>
          <p:cNvSpPr>
            <a:spLocks noGrp="1"/>
          </p:cNvSpPr>
          <p:nvPr>
            <p:ph type="title"/>
          </p:nvPr>
        </p:nvSpPr>
        <p:spPr/>
        <p:txBody>
          <a:bodyPr/>
          <a:lstStyle/>
          <a:p>
            <a:r>
              <a:rPr lang="en-US"/>
              <a:t>Introduction</a:t>
            </a:r>
          </a:p>
        </p:txBody>
      </p:sp>
      <p:sp>
        <p:nvSpPr>
          <p:cNvPr id="3" name="Content Placeholder 2">
            <a:extLst>
              <a:ext uri="{FF2B5EF4-FFF2-40B4-BE49-F238E27FC236}">
                <a16:creationId xmlns:a16="http://schemas.microsoft.com/office/drawing/2014/main" id="{779001B7-32C4-B79E-35D2-D8755CDECDC4}"/>
              </a:ext>
            </a:extLst>
          </p:cNvPr>
          <p:cNvSpPr>
            <a:spLocks noGrp="1"/>
          </p:cNvSpPr>
          <p:nvPr>
            <p:ph idx="1"/>
          </p:nvPr>
        </p:nvSpPr>
        <p:spPr/>
        <p:txBody>
          <a:bodyPr>
            <a:normAutofit fontScale="92500" lnSpcReduction="10000"/>
          </a:bodyPr>
          <a:lstStyle/>
          <a:p>
            <a:r>
              <a:rPr lang="en-US" dirty="0"/>
              <a:t>The problem: Life expectancy is a very significant pointer in population health and technological development. However, as life expectancy increases as it has recently, the long-term trend is unknown. </a:t>
            </a:r>
          </a:p>
          <a:p>
            <a:r>
              <a:rPr lang="en-US" dirty="0"/>
              <a:t>Our data analysis research question will be: What will be the life expectancy of the global population be by 2050? </a:t>
            </a:r>
          </a:p>
          <a:p>
            <a:r>
              <a:rPr lang="en-US" dirty="0"/>
              <a:t>Through recent technologies and medicines, life expectancy has increased over the last several decades, and this can influence healthcare services, social services and retirement programs</a:t>
            </a:r>
          </a:p>
          <a:p>
            <a:r>
              <a:rPr lang="en-US" dirty="0"/>
              <a:t>This is important as governments and companies have to prepare for the future and for aging populations, such as for pensions, medical care, elderly care etc. </a:t>
            </a:r>
          </a:p>
          <a:p>
            <a:pPr marL="0" indent="0">
              <a:buNone/>
            </a:pPr>
            <a:endParaRPr lang="en-US" dirty="0"/>
          </a:p>
          <a:p>
            <a:endParaRPr lang="en-US" dirty="0"/>
          </a:p>
        </p:txBody>
      </p:sp>
      <p:pic>
        <p:nvPicPr>
          <p:cNvPr id="5122" name="Picture 2" descr="Heart Health: Why It Matters &amp; How to ...">
            <a:extLst>
              <a:ext uri="{FF2B5EF4-FFF2-40B4-BE49-F238E27FC236}">
                <a16:creationId xmlns:a16="http://schemas.microsoft.com/office/drawing/2014/main" id="{7469BC6B-F269-322B-A794-3E5CF91CE5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1077" y="658368"/>
            <a:ext cx="2194777" cy="1643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7933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386B8-D51A-C720-8F88-565486387906}"/>
              </a:ext>
            </a:extLst>
          </p:cNvPr>
          <p:cNvSpPr>
            <a:spLocks noGrp="1"/>
          </p:cNvSpPr>
          <p:nvPr>
            <p:ph type="title"/>
          </p:nvPr>
        </p:nvSpPr>
        <p:spPr/>
        <p:txBody>
          <a:bodyPr/>
          <a:lstStyle/>
          <a:p>
            <a:r>
              <a:rPr lang="en-US"/>
              <a:t>Dataset</a:t>
            </a:r>
          </a:p>
        </p:txBody>
      </p:sp>
      <p:sp>
        <p:nvSpPr>
          <p:cNvPr id="3" name="Content Placeholder 2">
            <a:extLst>
              <a:ext uri="{FF2B5EF4-FFF2-40B4-BE49-F238E27FC236}">
                <a16:creationId xmlns:a16="http://schemas.microsoft.com/office/drawing/2014/main" id="{0BFB9750-3137-AC96-4E5F-25B0EF732D1A}"/>
              </a:ext>
            </a:extLst>
          </p:cNvPr>
          <p:cNvSpPr>
            <a:spLocks noGrp="1"/>
          </p:cNvSpPr>
          <p:nvPr>
            <p:ph idx="1"/>
          </p:nvPr>
        </p:nvSpPr>
        <p:spPr/>
        <p:txBody>
          <a:bodyPr vert="horz" lIns="91440" tIns="45720" rIns="91440" bIns="45720" rtlCol="0" anchor="t">
            <a:normAutofit lnSpcReduction="10000"/>
          </a:bodyPr>
          <a:lstStyle/>
          <a:p>
            <a:r>
              <a:rPr lang="en-US"/>
              <a:t>We will be using the data set from World Bank ”Life expectancy at birth, total (years)” which includes: </a:t>
            </a:r>
            <a:r>
              <a:rPr lang="en-US">
                <a:hlinkClick r:id="rId2"/>
              </a:rPr>
              <a:t>https://data.worldbank.org/indicator/SP.DYN.LE00.IN</a:t>
            </a:r>
            <a:r>
              <a:rPr lang="en-US"/>
              <a:t> (This link, download the csv)</a:t>
            </a:r>
          </a:p>
          <a:p>
            <a:endParaRPr lang="en-US"/>
          </a:p>
          <a:p>
            <a:pPr marL="493395" lvl="1">
              <a:buFont typeface="Courier New" panose="020B0604020202020204" pitchFamily="34" charset="0"/>
              <a:buChar char="o"/>
            </a:pPr>
            <a:r>
              <a:rPr lang="en-US"/>
              <a:t>Life expectancy at birth – measures the average a newborn is expected to live</a:t>
            </a:r>
          </a:p>
          <a:p>
            <a:pPr marL="493395" lvl="1">
              <a:buFont typeface="Courier New" panose="020B0604020202020204" pitchFamily="34" charset="0"/>
              <a:buChar char="o"/>
            </a:pPr>
            <a:r>
              <a:rPr lang="en-US"/>
              <a:t>Country name – displays country name</a:t>
            </a:r>
          </a:p>
          <a:p>
            <a:pPr marL="493395" lvl="1">
              <a:buFont typeface="Courier New" panose="020B0604020202020204" pitchFamily="34" charset="0"/>
              <a:buChar char="o"/>
            </a:pPr>
            <a:r>
              <a:rPr lang="en-US"/>
              <a:t>Country code – displays country code</a:t>
            </a:r>
          </a:p>
          <a:p>
            <a:pPr marL="493395" lvl="1">
              <a:buFont typeface="Courier New" panose="020B0604020202020204" pitchFamily="34" charset="0"/>
              <a:buChar char="o"/>
            </a:pPr>
            <a:r>
              <a:rPr lang="en-US"/>
              <a:t>Year – Year corresponding to life expectancy</a:t>
            </a:r>
          </a:p>
          <a:p>
            <a:r>
              <a:rPr lang="en-US"/>
              <a:t>This dataset provides data from 266 countries and their life expectancy every year from the 1960s-2023.</a:t>
            </a:r>
          </a:p>
        </p:txBody>
      </p:sp>
      <p:pic>
        <p:nvPicPr>
          <p:cNvPr id="4106" name="Picture 10" descr="Stata: Reshaping Data using World Bank Open Data Sets">
            <a:extLst>
              <a:ext uri="{FF2B5EF4-FFF2-40B4-BE49-F238E27FC236}">
                <a16:creationId xmlns:a16="http://schemas.microsoft.com/office/drawing/2014/main" id="{90A29232-D2C3-F0FE-DEB7-24C531966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4939" y="193585"/>
            <a:ext cx="3602121" cy="2026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6538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4DD91-1836-D521-8D2B-68BADC7D2D96}"/>
              </a:ext>
            </a:extLst>
          </p:cNvPr>
          <p:cNvSpPr>
            <a:spLocks noGrp="1"/>
          </p:cNvSpPr>
          <p:nvPr>
            <p:ph type="title"/>
          </p:nvPr>
        </p:nvSpPr>
        <p:spPr/>
        <p:txBody>
          <a:bodyPr/>
          <a:lstStyle/>
          <a:p>
            <a:r>
              <a:rPr lang="en-US" dirty="0"/>
              <a:t>Answering research questions</a:t>
            </a:r>
          </a:p>
        </p:txBody>
      </p:sp>
      <p:sp>
        <p:nvSpPr>
          <p:cNvPr id="3" name="Content Placeholder 2">
            <a:extLst>
              <a:ext uri="{FF2B5EF4-FFF2-40B4-BE49-F238E27FC236}">
                <a16:creationId xmlns:a16="http://schemas.microsoft.com/office/drawing/2014/main" id="{3A38F92D-067C-263F-8C6C-DC9F340FE0CA}"/>
              </a:ext>
            </a:extLst>
          </p:cNvPr>
          <p:cNvSpPr>
            <a:spLocks noGrp="1"/>
          </p:cNvSpPr>
          <p:nvPr>
            <p:ph idx="1"/>
          </p:nvPr>
        </p:nvSpPr>
        <p:spPr>
          <a:xfrm>
            <a:off x="640079" y="2468881"/>
            <a:ext cx="10890928" cy="4224528"/>
          </a:xfrm>
        </p:spPr>
        <p:txBody>
          <a:bodyPr vert="horz" lIns="91440" tIns="45720" rIns="91440" bIns="45720" rtlCol="0" anchor="t">
            <a:normAutofit/>
          </a:bodyPr>
          <a:lstStyle/>
          <a:p>
            <a:r>
              <a:rPr lang="en-US" dirty="0"/>
              <a:t>Our analysis will primarily use power BI for data prep, modeling, and visualization.</a:t>
            </a:r>
          </a:p>
          <a:p>
            <a:r>
              <a:rPr lang="en-US" dirty="0"/>
              <a:t>Power BI will be used to clean the data if needed and to organize the dataset. We will also reformat the data into more of a time-series format so we can examine how the data changes over time</a:t>
            </a:r>
          </a:p>
          <a:p>
            <a:r>
              <a:rPr lang="en-US" dirty="0"/>
              <a:t>Power BI has a built-in forecasting feature that can also be used to project life expectancy through a certain date through historical patterns in the data, as well as interactive charts which can help clearly show trends and uncertainties in the predictions for the viewer</a:t>
            </a:r>
          </a:p>
          <a:p>
            <a:r>
              <a:rPr lang="en-US" dirty="0"/>
              <a:t>Power BI KPI cards will be used to show key summary information such as current global life expectancy, projected life expectancy in 2050, and overall growth since 1960.</a:t>
            </a:r>
          </a:p>
          <a:p>
            <a:pPr marL="0" indent="0">
              <a:buNone/>
            </a:pPr>
            <a:endParaRPr lang="en-US" dirty="0"/>
          </a:p>
          <a:p>
            <a:endParaRPr lang="en-US" dirty="0"/>
          </a:p>
        </p:txBody>
      </p:sp>
      <p:pic>
        <p:nvPicPr>
          <p:cNvPr id="2050" name="Picture 2" descr="Microsoft Power BI: Data Aanalysis y ...">
            <a:extLst>
              <a:ext uri="{FF2B5EF4-FFF2-40B4-BE49-F238E27FC236}">
                <a16:creationId xmlns:a16="http://schemas.microsoft.com/office/drawing/2014/main" id="{0E1087DD-1660-38D4-5AAA-76018053FA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5061" y="164591"/>
            <a:ext cx="3797300"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5967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61184-0746-305D-4F38-05DAB82C9821}"/>
              </a:ext>
            </a:extLst>
          </p:cNvPr>
          <p:cNvSpPr>
            <a:spLocks noGrp="1"/>
          </p:cNvSpPr>
          <p:nvPr>
            <p:ph type="title"/>
          </p:nvPr>
        </p:nvSpPr>
        <p:spPr/>
        <p:txBody>
          <a:bodyPr>
            <a:normAutofit/>
          </a:bodyPr>
          <a:lstStyle/>
          <a:p>
            <a:r>
              <a:rPr lang="en-US"/>
              <a:t>Visualizations </a:t>
            </a:r>
          </a:p>
        </p:txBody>
      </p:sp>
      <p:sp>
        <p:nvSpPr>
          <p:cNvPr id="3" name="Content Placeholder 2">
            <a:extLst>
              <a:ext uri="{FF2B5EF4-FFF2-40B4-BE49-F238E27FC236}">
                <a16:creationId xmlns:a16="http://schemas.microsoft.com/office/drawing/2014/main" id="{C80D0A18-4D93-EE15-2338-00C9AD7BEE1A}"/>
              </a:ext>
            </a:extLst>
          </p:cNvPr>
          <p:cNvSpPr>
            <a:spLocks noGrp="1"/>
          </p:cNvSpPr>
          <p:nvPr>
            <p:ph idx="1"/>
          </p:nvPr>
        </p:nvSpPr>
        <p:spPr/>
        <p:txBody>
          <a:bodyPr vert="horz" lIns="91440" tIns="45720" rIns="91440" bIns="45720" rtlCol="0" anchor="t">
            <a:normAutofit fontScale="92500" lnSpcReduction="10000"/>
          </a:bodyPr>
          <a:lstStyle/>
          <a:p>
            <a:r>
              <a:rPr lang="en-US" dirty="0"/>
              <a:t>The visualizations we plan to use are trend analysis and KPI cards, as well as a decade comparison chart</a:t>
            </a:r>
          </a:p>
          <a:p>
            <a:r>
              <a:rPr lang="en-US" dirty="0"/>
              <a:t>The trend analysis will be a line chart that shows the life expectancy throughout the years until currently, and will predict until 2050 using confidence intervals</a:t>
            </a:r>
          </a:p>
          <a:p>
            <a:r>
              <a:rPr lang="en-US" dirty="0"/>
              <a:t>We will use KPI cards in order to recap the most important information which is the average life expectancy leading to 2025, total growth since 1960, and projected 2050 values</a:t>
            </a:r>
          </a:p>
          <a:p>
            <a:r>
              <a:rPr lang="en-US" dirty="0"/>
              <a:t>We will use a decade comparison chart to analyze life expectancy changes across decades which will help us identify growth patterns as well as the shifts through time in the improvement rate</a:t>
            </a:r>
          </a:p>
          <a:p>
            <a:r>
              <a:rPr lang="en-US" dirty="0"/>
              <a:t>Heat map used to show difference in growth patterns across continents</a:t>
            </a:r>
          </a:p>
        </p:txBody>
      </p:sp>
      <p:pic>
        <p:nvPicPr>
          <p:cNvPr id="1026" name="Picture 2" descr="World Heat Map Excel Template: Automatic Country Coloring - Etsy">
            <a:extLst>
              <a:ext uri="{FF2B5EF4-FFF2-40B4-BE49-F238E27FC236}">
                <a16:creationId xmlns:a16="http://schemas.microsoft.com/office/drawing/2014/main" id="{6FF2FEF0-E546-6ECB-5583-E9D52B58DA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5800" y="286385"/>
            <a:ext cx="4044437" cy="207698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KPIs and cards in Power BI — DATA GOBLINS">
            <a:extLst>
              <a:ext uri="{FF2B5EF4-FFF2-40B4-BE49-F238E27FC236}">
                <a16:creationId xmlns:a16="http://schemas.microsoft.com/office/drawing/2014/main" id="{45AC0DAE-2EA5-F1BA-FE3E-DB4037F23C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6004" y="147647"/>
            <a:ext cx="3179078" cy="2563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4655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FC2DC-DF2C-98F2-2102-E39A25A16724}"/>
              </a:ext>
            </a:extLst>
          </p:cNvPr>
          <p:cNvSpPr>
            <a:spLocks noGrp="1"/>
          </p:cNvSpPr>
          <p:nvPr>
            <p:ph type="title"/>
          </p:nvPr>
        </p:nvSpPr>
        <p:spPr/>
        <p:txBody>
          <a:bodyPr/>
          <a:lstStyle/>
          <a:p>
            <a:r>
              <a:rPr lang="en-US"/>
              <a:t>Timeline</a:t>
            </a:r>
          </a:p>
        </p:txBody>
      </p:sp>
      <p:sp>
        <p:nvSpPr>
          <p:cNvPr id="3" name="Content Placeholder 2">
            <a:extLst>
              <a:ext uri="{FF2B5EF4-FFF2-40B4-BE49-F238E27FC236}">
                <a16:creationId xmlns:a16="http://schemas.microsoft.com/office/drawing/2014/main" id="{E8EF04CA-D038-5B34-975F-0B83BF73FE0E}"/>
              </a:ext>
            </a:extLst>
          </p:cNvPr>
          <p:cNvSpPr>
            <a:spLocks noGrp="1"/>
          </p:cNvSpPr>
          <p:nvPr>
            <p:ph idx="1"/>
          </p:nvPr>
        </p:nvSpPr>
        <p:spPr/>
        <p:txBody>
          <a:bodyPr vert="horz" lIns="91440" tIns="45720" rIns="91440" bIns="45720" rtlCol="0" anchor="t">
            <a:normAutofit/>
          </a:bodyPr>
          <a:lstStyle/>
          <a:p>
            <a:r>
              <a:rPr lang="en-US"/>
              <a:t>The first week will be setting up the data for analysis with each member doing their own research on global life expectancy and reviewing the dataset</a:t>
            </a:r>
          </a:p>
          <a:p>
            <a:r>
              <a:rPr lang="en-US"/>
              <a:t>The second week will be dedicated to finishing up cleaning the data if necessary</a:t>
            </a:r>
          </a:p>
          <a:p>
            <a:r>
              <a:rPr lang="en-US"/>
              <a:t>The third week will be focusing on creating the charts and KPI cards, each member working on either the trend analysis chart, KPI cards, or decade comparison chart. This will take us around 2-3 weeks</a:t>
            </a:r>
          </a:p>
          <a:p>
            <a:r>
              <a:rPr lang="en-US"/>
              <a:t>The final week we will be wrapping up anything that is not done yet or needs improvement</a:t>
            </a:r>
          </a:p>
        </p:txBody>
      </p:sp>
      <p:pic>
        <p:nvPicPr>
          <p:cNvPr id="3074" name="Picture 2" descr="How to create a project timeline (with tips and examples) | Nulab">
            <a:extLst>
              <a:ext uri="{FF2B5EF4-FFF2-40B4-BE49-F238E27FC236}">
                <a16:creationId xmlns:a16="http://schemas.microsoft.com/office/drawing/2014/main" id="{53B08340-577B-C452-248B-003941E89A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7418" y="295501"/>
            <a:ext cx="3594100" cy="226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6169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6151" name="Straight Connector 6150">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6153" name="Rectangle 6152">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587632-D302-728B-C4D2-F4A35A9DCAB4}"/>
              </a:ext>
            </a:extLst>
          </p:cNvPr>
          <p:cNvSpPr>
            <a:spLocks noGrp="1"/>
          </p:cNvSpPr>
          <p:nvPr>
            <p:ph type="title"/>
          </p:nvPr>
        </p:nvSpPr>
        <p:spPr>
          <a:xfrm>
            <a:off x="640080" y="1434438"/>
            <a:ext cx="2983229" cy="2612976"/>
          </a:xfrm>
        </p:spPr>
        <p:txBody>
          <a:bodyPr vert="horz" lIns="91440" tIns="45720" rIns="91440" bIns="45720" rtlCol="0" anchor="t">
            <a:normAutofit/>
          </a:bodyPr>
          <a:lstStyle/>
          <a:p>
            <a:r>
              <a:rPr lang="en-US" sz="4400"/>
              <a:t>Any questions?</a:t>
            </a:r>
          </a:p>
        </p:txBody>
      </p:sp>
      <p:pic>
        <p:nvPicPr>
          <p:cNvPr id="6146" name="Picture 2" descr="The power of the question mark - SWOOP Analytics® | Digital Workplace  Analytics">
            <a:extLst>
              <a:ext uri="{FF2B5EF4-FFF2-40B4-BE49-F238E27FC236}">
                <a16:creationId xmlns:a16="http://schemas.microsoft.com/office/drawing/2014/main" id="{C0FD1F94-8C64-F849-8D30-7806E7153FD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229100" y="1485420"/>
            <a:ext cx="7290648" cy="3827589"/>
          </a:xfrm>
          <a:prstGeom prst="rect">
            <a:avLst/>
          </a:prstGeom>
          <a:noFill/>
          <a:extLst>
            <a:ext uri="{909E8E84-426E-40DD-AFC4-6F175D3DCCD1}">
              <a14:hiddenFill xmlns:a14="http://schemas.microsoft.com/office/drawing/2010/main">
                <a:solidFill>
                  <a:srgbClr val="FFFFFF"/>
                </a:solidFill>
              </a14:hiddenFill>
            </a:ext>
          </a:extLst>
        </p:spPr>
      </p:pic>
      <p:cxnSp>
        <p:nvCxnSpPr>
          <p:cNvPr id="6155" name="Straight Connector 6154">
            <a:extLst>
              <a:ext uri="{FF2B5EF4-FFF2-40B4-BE49-F238E27FC236}">
                <a16:creationId xmlns:a16="http://schemas.microsoft.com/office/drawing/2014/main" id="{426B4E86-32C4-273A-1ADF-6B44243549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0923378"/>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0</TotalTime>
  <Words>587</Words>
  <Application>Microsoft Macintosh PowerPoint</Application>
  <PresentationFormat>Widescreen</PresentationFormat>
  <Paragraphs>32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Courier New</vt:lpstr>
      <vt:lpstr>Grandview Display</vt:lpstr>
      <vt:lpstr>DashVTI</vt:lpstr>
      <vt:lpstr>Project Proposal  Group 3</vt:lpstr>
      <vt:lpstr>Introduction</vt:lpstr>
      <vt:lpstr>Dataset</vt:lpstr>
      <vt:lpstr>Answering research questions</vt:lpstr>
      <vt:lpstr>Visualizations </vt:lpstr>
      <vt:lpstr>Timeline</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McCormack, Ryan</dc:creator>
  <cp:lastModifiedBy>McCormack, Ryan</cp:lastModifiedBy>
  <cp:revision>5</cp:revision>
  <dcterms:created xsi:type="dcterms:W3CDTF">2026-02-25T17:13:06Z</dcterms:created>
  <dcterms:modified xsi:type="dcterms:W3CDTF">2026-03-02T17:32:20Z</dcterms:modified>
</cp:coreProperties>
</file>